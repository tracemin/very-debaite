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2587D8-9D5A-40FD-8139-932956FEA3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5FA2F3-24F4-4B9A-A705-5FAD301E18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0FC50E-F6AB-43C4-9794-830B98BAB4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9431D9-0613-4A5D-90C2-0B52D80C3F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377E28-A19B-4B86-B6F7-6A79C0AB52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E2D0FF-17C6-4FEE-82C7-72CCC1C5A1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45FF67-59C8-491B-AEC7-0E7BAE4A8E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8D1EF5-2125-4FA4-A42A-2B8CF8443F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2FB5B1-172D-4A78-9FBB-64EB3D4866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E85D67-356E-43FC-A55A-E6F31D8B26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2CA651-60DD-432A-95A3-A9DCCD6E1B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1"/>
          <p:cNvSpPr/>
          <p:nvPr/>
        </p:nvSpPr>
        <p:spPr>
          <a:xfrm>
            <a:off x="9875520" y="-640080"/>
            <a:ext cx="2742840" cy="2742840"/>
          </a:xfrm>
          <a:prstGeom prst="ellipse">
            <a:avLst/>
          </a:prstGeom>
          <a:solidFill>
            <a:srgbClr val="EFEB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10789920" y="5212080"/>
            <a:ext cx="2011320" cy="2011320"/>
          </a:xfrm>
          <a:prstGeom prst="ellipse">
            <a:avLst/>
          </a:prstGeom>
          <a:solidFill>
            <a:srgbClr val="E9F6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Picture 3" descr="1792925471287.jpg"/>
          <p:cNvPicPr/>
          <p:nvPr/>
        </p:nvPicPr>
        <p:blipFill>
          <a:blip r:embed="rId1"/>
          <a:stretch/>
        </p:blipFill>
        <p:spPr>
          <a:xfrm>
            <a:off x="502920" y="384120"/>
            <a:ext cx="5943240" cy="59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Box 4"/>
          <p:cNvSpPr/>
          <p:nvPr/>
        </p:nvSpPr>
        <p:spPr>
          <a:xfrm>
            <a:off x="6400800" y="1143000"/>
            <a:ext cx="50288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ПРОЕКТ • MVP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400800" y="1691640"/>
            <a:ext cx="5028840" cy="11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34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Решение —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через дебаты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6400800" y="3246120"/>
            <a:ext cx="484596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Мультиагентная система анализа утверждений: аргументы за и против, затем взвешенный вердикт.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6400800" y="4709160"/>
            <a:ext cx="1325520" cy="8208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7818120" y="4709160"/>
            <a:ext cx="914040" cy="82080"/>
          </a:xfrm>
          <a:prstGeom prst="rect">
            <a:avLst/>
          </a:prstGeom>
          <a:solidFill>
            <a:srgbClr val="D8A9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8823960" y="4709160"/>
            <a:ext cx="914040" cy="82080"/>
          </a:xfrm>
          <a:prstGeom prst="rect">
            <a:avLst/>
          </a:prstGeom>
          <a:solidFill>
            <a:srgbClr val="5942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6626160" y="5016600"/>
            <a:ext cx="32738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656C7C"/>
                </a:solidFill>
                <a:effectLst/>
                <a:uFillTx/>
                <a:latin typeface="Aptos"/>
                <a:ea typeface="Microsoft YaHei"/>
              </a:rPr>
              <a:t>Rust · AI</a:t>
            </a:r>
            <a:r>
              <a:rPr lang="en-US" sz="22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 · SaaS</a:t>
            </a:r>
            <a:endParaRPr lang="ru-RU" sz="2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58440" y="3474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ЗАЧЕМ ЭТО НУЖНО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658440" y="621720"/>
            <a:ext cx="1078956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Проблема: уверенный ответ — ещё не доказательство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658440" y="1261800"/>
            <a:ext cx="685440" cy="500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110996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02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658440" y="647388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VERY-DebAIte  •  MULTI-AGENT FACT-CHECKING SYSTEM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749880" y="1627560"/>
            <a:ext cx="1041012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Языковая модель может звучать убедительно, даже если подтверждений недостаточно.</a:t>
            </a:r>
            <a:endParaRPr lang="ru-RU" sz="2000" b="0" u="none" strike="noStrike">
              <a:solidFill>
                <a:srgbClr val="233669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7"/>
          <p:cNvSpPr/>
          <p:nvPr/>
        </p:nvSpPr>
        <p:spPr>
          <a:xfrm>
            <a:off x="749880" y="2514600"/>
            <a:ext cx="3337200" cy="19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8"/>
          <p:cNvSpPr/>
          <p:nvPr/>
        </p:nvSpPr>
        <p:spPr>
          <a:xfrm>
            <a:off x="749880" y="2514600"/>
            <a:ext cx="68400" cy="1965600"/>
          </a:xfrm>
          <a:prstGeom prst="rect">
            <a:avLst/>
          </a:prstGeom>
          <a:solidFill>
            <a:srgbClr val="5942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951120" y="2679120"/>
            <a:ext cx="295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Односторонний анализ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963720" y="3247560"/>
            <a:ext cx="2953080" cy="9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Одна позиция может доминировать, а важные контраргументы — остаться незамеченными.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1"/>
          <p:cNvSpPr/>
          <p:nvPr/>
        </p:nvSpPr>
        <p:spPr>
          <a:xfrm>
            <a:off x="4316040" y="2514600"/>
            <a:ext cx="3337200" cy="19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12"/>
          <p:cNvSpPr/>
          <p:nvPr/>
        </p:nvSpPr>
        <p:spPr>
          <a:xfrm>
            <a:off x="4316040" y="2514600"/>
            <a:ext cx="68400" cy="1965600"/>
          </a:xfrm>
          <a:prstGeom prst="rect">
            <a:avLst/>
          </a:prstGeom>
          <a:solidFill>
            <a:srgbClr val="D8A9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4517280" y="2679120"/>
            <a:ext cx="295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D8A923"/>
                </a:solidFill>
                <a:effectLst/>
                <a:uFillTx/>
                <a:latin typeface="Aptos"/>
              </a:rPr>
              <a:t>Непроверенные источники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4517280" y="3247560"/>
            <a:ext cx="295308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Ссылки могут выглядеть убедительно, но оставаться непроверенными.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5"/>
          <p:cNvSpPr/>
          <p:nvPr/>
        </p:nvSpPr>
        <p:spPr>
          <a:xfrm>
            <a:off x="7882200" y="2514600"/>
            <a:ext cx="3337200" cy="19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16"/>
          <p:cNvSpPr/>
          <p:nvPr/>
        </p:nvSpPr>
        <p:spPr>
          <a:xfrm>
            <a:off x="7882200" y="2514600"/>
            <a:ext cx="68400" cy="196560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7"/>
          <p:cNvSpPr/>
          <p:nvPr/>
        </p:nvSpPr>
        <p:spPr>
          <a:xfrm>
            <a:off x="8083440" y="2666880"/>
            <a:ext cx="295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1A453"/>
                </a:solidFill>
                <a:effectLst/>
                <a:uFillTx/>
                <a:latin typeface="Aptos"/>
              </a:rPr>
              <a:t>Оценка неопределённости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8"/>
          <p:cNvSpPr/>
          <p:nvPr/>
        </p:nvSpPr>
        <p:spPr>
          <a:xfrm>
            <a:off x="8089560" y="3284640"/>
            <a:ext cx="2953080" cy="9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Система должна уметь сказать «недостаточно данных», а не выдавать предположение за факт.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9"/>
          <p:cNvSpPr/>
          <p:nvPr/>
        </p:nvSpPr>
        <p:spPr>
          <a:xfrm>
            <a:off x="749880" y="4983480"/>
            <a:ext cx="10469520" cy="804240"/>
          </a:xfrm>
          <a:prstGeom prst="roundRect">
            <a:avLst>
              <a:gd name="adj" fmla="val 12000"/>
            </a:avLst>
          </a:prstGeom>
          <a:solidFill>
            <a:srgbClr val="E9EE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0"/>
          <p:cNvSpPr/>
          <p:nvPr/>
        </p:nvSpPr>
        <p:spPr>
          <a:xfrm>
            <a:off x="1005840" y="519372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Решение: две независимые позиции и отдельная оценка Судьи.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658440" y="3474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КАК РАБОТАЕТ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65844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Решение: три агента вместо одного ответа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3"/>
          <p:cNvSpPr/>
          <p:nvPr/>
        </p:nvSpPr>
        <p:spPr>
          <a:xfrm>
            <a:off x="658440" y="1261800"/>
            <a:ext cx="685440" cy="500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1110996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03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658440" y="647388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VERY-DebAIte  •  MULTI-AGENT FACT-CHECKING SYSTEM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Oval 6"/>
          <p:cNvSpPr/>
          <p:nvPr/>
        </p:nvSpPr>
        <p:spPr>
          <a:xfrm>
            <a:off x="1737360" y="1828800"/>
            <a:ext cx="658080" cy="658080"/>
          </a:xfrm>
          <a:prstGeom prst="ellipse">
            <a:avLst/>
          </a:prstGeom>
          <a:solidFill>
            <a:srgbClr val="5942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1737360" y="2002680"/>
            <a:ext cx="658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+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8"/>
          <p:cNvSpPr/>
          <p:nvPr/>
        </p:nvSpPr>
        <p:spPr>
          <a:xfrm>
            <a:off x="731520" y="2743200"/>
            <a:ext cx="2697120" cy="150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896040" y="297180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Оптимист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914400" y="3456360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Собирает аргументы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в пользу утверждения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Oval 11"/>
          <p:cNvSpPr/>
          <p:nvPr/>
        </p:nvSpPr>
        <p:spPr>
          <a:xfrm>
            <a:off x="5303520" y="1828800"/>
            <a:ext cx="658080" cy="658080"/>
          </a:xfrm>
          <a:prstGeom prst="ellipse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5303520" y="2002680"/>
            <a:ext cx="658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-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3"/>
          <p:cNvSpPr/>
          <p:nvPr/>
        </p:nvSpPr>
        <p:spPr>
          <a:xfrm>
            <a:off x="4297680" y="2743200"/>
            <a:ext cx="2697120" cy="150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4"/>
          <p:cNvSpPr/>
          <p:nvPr/>
        </p:nvSpPr>
        <p:spPr>
          <a:xfrm>
            <a:off x="4462200" y="297180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1A453"/>
                </a:solidFill>
                <a:effectLst/>
                <a:uFillTx/>
                <a:latin typeface="Aptos"/>
              </a:rPr>
              <a:t>Скептик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5"/>
          <p:cNvSpPr/>
          <p:nvPr/>
        </p:nvSpPr>
        <p:spPr>
          <a:xfrm>
            <a:off x="4480560" y="3456360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Ищет контраргументы,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ошибки и пробелы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val 16"/>
          <p:cNvSpPr/>
          <p:nvPr/>
        </p:nvSpPr>
        <p:spPr>
          <a:xfrm>
            <a:off x="8869680" y="1828800"/>
            <a:ext cx="658080" cy="658080"/>
          </a:xfrm>
          <a:prstGeom prst="ellipse">
            <a:avLst/>
          </a:prstGeom>
          <a:solidFill>
            <a:srgbClr val="D8A9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7"/>
          <p:cNvSpPr/>
          <p:nvPr/>
        </p:nvSpPr>
        <p:spPr>
          <a:xfrm>
            <a:off x="8869680" y="2002680"/>
            <a:ext cx="658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=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8"/>
          <p:cNvSpPr/>
          <p:nvPr/>
        </p:nvSpPr>
        <p:spPr>
          <a:xfrm>
            <a:off x="7863840" y="2743200"/>
            <a:ext cx="2697120" cy="150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9"/>
          <p:cNvSpPr/>
          <p:nvPr/>
        </p:nvSpPr>
        <p:spPr>
          <a:xfrm>
            <a:off x="8028360" y="297180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8A923"/>
                </a:solidFill>
                <a:effectLst/>
                <a:uFillTx/>
                <a:latin typeface="Aptos"/>
              </a:rPr>
              <a:t>Судья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0"/>
          <p:cNvSpPr/>
          <p:nvPr/>
        </p:nvSpPr>
        <p:spPr>
          <a:xfrm>
            <a:off x="8046720" y="3456360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Сопоставляет качество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доводов и выносит вердикт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Connector 21"/>
          <p:cNvCxnSpPr/>
          <p:nvPr/>
        </p:nvCxnSpPr>
        <p:spPr>
          <a:xfrm>
            <a:off x="3566160" y="3474720"/>
            <a:ext cx="503280" cy="360"/>
          </a:xfrm>
          <a:prstGeom prst="straightConnector1">
            <a:avLst/>
          </a:prstGeom>
          <a:ln>
            <a:solidFill>
              <a:srgbClr val="656C7C"/>
            </a:solidFill>
            <a:round/>
          </a:ln>
        </p:spPr>
      </p:cxnSp>
      <p:cxnSp>
        <p:nvCxnSpPr>
          <p:cNvPr id="112" name="Connector 22"/>
          <p:cNvCxnSpPr/>
          <p:nvPr/>
        </p:nvCxnSpPr>
        <p:spPr>
          <a:xfrm>
            <a:off x="7132320" y="3474720"/>
            <a:ext cx="503280" cy="360"/>
          </a:xfrm>
          <a:prstGeom prst="straightConnector1">
            <a:avLst/>
          </a:prstGeom>
          <a:ln>
            <a:solidFill>
              <a:srgbClr val="656C7C"/>
            </a:solidFill>
            <a:round/>
          </a:ln>
        </p:spPr>
      </p:cxnSp>
      <p:sp>
        <p:nvSpPr>
          <p:cNvPr id="113" name="Rounded Rectangle 23"/>
          <p:cNvSpPr/>
          <p:nvPr/>
        </p:nvSpPr>
        <p:spPr>
          <a:xfrm>
            <a:off x="1005840" y="4892040"/>
            <a:ext cx="10149480" cy="712800"/>
          </a:xfrm>
          <a:prstGeom prst="roundRect">
            <a:avLst>
              <a:gd name="adj" fmla="val 12000"/>
            </a:avLst>
          </a:prstGeom>
          <a:solidFill>
            <a:srgbClr val="EFEB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4"/>
          <p:cNvSpPr/>
          <p:nvPr/>
        </p:nvSpPr>
        <p:spPr>
          <a:xfrm>
            <a:off x="1080000" y="5074920"/>
            <a:ext cx="990000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Оптимист и Скептик работают параллельно → Судья запускается после обоих.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658440" y="3474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СЦЕНАРИЙ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65844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Путь пользователя: от тезиса к вердикту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3"/>
          <p:cNvSpPr/>
          <p:nvPr/>
        </p:nvSpPr>
        <p:spPr>
          <a:xfrm>
            <a:off x="658440" y="1261800"/>
            <a:ext cx="685440" cy="500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1110996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04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658440" y="647388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VERY-DebAIte  •  MULTI-AGENT FACT-CHECKING SYSTEM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6"/>
          <p:cNvSpPr/>
          <p:nvPr/>
        </p:nvSpPr>
        <p:spPr>
          <a:xfrm>
            <a:off x="749880" y="2057400"/>
            <a:ext cx="2422800" cy="19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Oval 7"/>
          <p:cNvSpPr/>
          <p:nvPr/>
        </p:nvSpPr>
        <p:spPr>
          <a:xfrm>
            <a:off x="932760" y="2267640"/>
            <a:ext cx="438480" cy="438480"/>
          </a:xfrm>
          <a:prstGeom prst="ellipse">
            <a:avLst/>
          </a:prstGeom>
          <a:solidFill>
            <a:srgbClr val="5942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932760" y="2368440"/>
            <a:ext cx="43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932760" y="285300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Утверждение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932760" y="327348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3–4000 символов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Connector 11"/>
          <p:cNvCxnSpPr/>
          <p:nvPr/>
        </p:nvCxnSpPr>
        <p:spPr>
          <a:xfrm>
            <a:off x="3200400" y="3017520"/>
            <a:ext cx="292680" cy="360"/>
          </a:xfrm>
          <a:prstGeom prst="straightConnector1">
            <a:avLst/>
          </a:prstGeom>
          <a:ln w="19050">
            <a:solidFill>
              <a:srgbClr val="594297"/>
            </a:solidFill>
            <a:round/>
          </a:ln>
        </p:spPr>
      </p:cxnSp>
      <p:sp>
        <p:nvSpPr>
          <p:cNvPr id="126" name="Rounded Rectangle 12"/>
          <p:cNvSpPr/>
          <p:nvPr/>
        </p:nvSpPr>
        <p:spPr>
          <a:xfrm>
            <a:off x="3538800" y="2057400"/>
            <a:ext cx="2422800" cy="19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Oval 13"/>
          <p:cNvSpPr/>
          <p:nvPr/>
        </p:nvSpPr>
        <p:spPr>
          <a:xfrm>
            <a:off x="3721680" y="2267640"/>
            <a:ext cx="438480" cy="438480"/>
          </a:xfrm>
          <a:prstGeom prst="ellipse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3721680" y="2368440"/>
            <a:ext cx="43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3721680" y="285300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Материал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3721680" y="327348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TXT / текстовый PDF — опционально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Connector 17"/>
          <p:cNvCxnSpPr/>
          <p:nvPr/>
        </p:nvCxnSpPr>
        <p:spPr>
          <a:xfrm>
            <a:off x="5989320" y="3017520"/>
            <a:ext cx="292680" cy="360"/>
          </a:xfrm>
          <a:prstGeom prst="straightConnector1">
            <a:avLst/>
          </a:prstGeom>
          <a:ln w="19050">
            <a:solidFill>
              <a:srgbClr val="594297"/>
            </a:solidFill>
            <a:round/>
          </a:ln>
        </p:spPr>
      </p:cxnSp>
      <p:sp>
        <p:nvSpPr>
          <p:cNvPr id="132" name="Rounded Rectangle 18"/>
          <p:cNvSpPr/>
          <p:nvPr/>
        </p:nvSpPr>
        <p:spPr>
          <a:xfrm>
            <a:off x="6327720" y="2057400"/>
            <a:ext cx="2422800" cy="19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Oval 19"/>
          <p:cNvSpPr/>
          <p:nvPr/>
        </p:nvSpPr>
        <p:spPr>
          <a:xfrm>
            <a:off x="6510600" y="2267640"/>
            <a:ext cx="438480" cy="438480"/>
          </a:xfrm>
          <a:prstGeom prst="ellipse">
            <a:avLst/>
          </a:prstGeom>
          <a:solidFill>
            <a:srgbClr val="D8A9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6510600" y="2368440"/>
            <a:ext cx="43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1"/>
          <p:cNvSpPr/>
          <p:nvPr/>
        </p:nvSpPr>
        <p:spPr>
          <a:xfrm>
            <a:off x="6510600" y="285300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Анализ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2"/>
          <p:cNvSpPr/>
          <p:nvPr/>
        </p:nvSpPr>
        <p:spPr>
          <a:xfrm>
            <a:off x="6510600" y="327348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Стриминг статусов и аргументов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" name="Connector 23"/>
          <p:cNvCxnSpPr/>
          <p:nvPr/>
        </p:nvCxnSpPr>
        <p:spPr>
          <a:xfrm>
            <a:off x="8778240" y="3017520"/>
            <a:ext cx="292680" cy="360"/>
          </a:xfrm>
          <a:prstGeom prst="straightConnector1">
            <a:avLst/>
          </a:prstGeom>
          <a:ln w="19050">
            <a:solidFill>
              <a:srgbClr val="594297"/>
            </a:solidFill>
            <a:round/>
          </a:ln>
        </p:spPr>
      </p:cxnSp>
      <p:sp>
        <p:nvSpPr>
          <p:cNvPr id="138" name="Rounded Rectangle 24"/>
          <p:cNvSpPr/>
          <p:nvPr/>
        </p:nvSpPr>
        <p:spPr>
          <a:xfrm>
            <a:off x="9116640" y="2057400"/>
            <a:ext cx="2422800" cy="19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Oval 25"/>
          <p:cNvSpPr/>
          <p:nvPr/>
        </p:nvSpPr>
        <p:spPr>
          <a:xfrm>
            <a:off x="9299520" y="2267640"/>
            <a:ext cx="438480" cy="438480"/>
          </a:xfrm>
          <a:prstGeom prst="ellipse">
            <a:avLst/>
          </a:prstGeom>
          <a:solidFill>
            <a:srgbClr val="233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6"/>
          <p:cNvSpPr/>
          <p:nvPr/>
        </p:nvSpPr>
        <p:spPr>
          <a:xfrm>
            <a:off x="9299520" y="2368440"/>
            <a:ext cx="43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7"/>
          <p:cNvSpPr/>
          <p:nvPr/>
        </p:nvSpPr>
        <p:spPr>
          <a:xfrm>
            <a:off x="9299520" y="285300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Результат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8"/>
          <p:cNvSpPr/>
          <p:nvPr/>
        </p:nvSpPr>
        <p:spPr>
          <a:xfrm>
            <a:off x="9299520" y="327348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Вердикт, доводы, источники и оговорки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29"/>
          <p:cNvSpPr/>
          <p:nvPr/>
        </p:nvSpPr>
        <p:spPr>
          <a:xfrm>
            <a:off x="749880" y="4663440"/>
            <a:ext cx="10789560" cy="868320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30"/>
          <p:cNvSpPr/>
          <p:nvPr/>
        </p:nvSpPr>
        <p:spPr>
          <a:xfrm>
            <a:off x="960120" y="488304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1A453"/>
                </a:solidFill>
                <a:effectLst/>
                <a:uFillTx/>
                <a:latin typeface="Aptos"/>
              </a:rPr>
              <a:t>Пользователь видит, что происходит, а не ждёт «чёрный ящик».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658440" y="3474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ЧТО ПОЛУЧАЕТ ПОЛЬЗОВАТЕЛЬ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65844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Вердикт — градация, а не просто «да / нет»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3"/>
          <p:cNvSpPr/>
          <p:nvPr/>
        </p:nvSpPr>
        <p:spPr>
          <a:xfrm>
            <a:off x="658440" y="1261800"/>
            <a:ext cx="685440" cy="500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1110996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05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658440" y="647388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VERY-DebAIte  •  MULTI-AGENT FACT-CHECKING SYSTEM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6"/>
          <p:cNvSpPr/>
          <p:nvPr/>
        </p:nvSpPr>
        <p:spPr>
          <a:xfrm>
            <a:off x="658440" y="2011680"/>
            <a:ext cx="2057040" cy="1298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7"/>
          <p:cNvSpPr/>
          <p:nvPr/>
        </p:nvSpPr>
        <p:spPr>
          <a:xfrm>
            <a:off x="658440" y="2011680"/>
            <a:ext cx="2057040" cy="1184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749880" y="233172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1A453"/>
                </a:solidFill>
                <a:effectLst/>
                <a:uFillTx/>
                <a:latin typeface="Aptos"/>
              </a:rPr>
              <a:t>Подтверждено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9"/>
          <p:cNvSpPr/>
          <p:nvPr/>
        </p:nvSpPr>
        <p:spPr>
          <a:xfrm>
            <a:off x="749880" y="285300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confirmed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0"/>
          <p:cNvSpPr/>
          <p:nvPr/>
        </p:nvSpPr>
        <p:spPr>
          <a:xfrm>
            <a:off x="2962800" y="2011680"/>
            <a:ext cx="2057040" cy="1298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11"/>
          <p:cNvSpPr/>
          <p:nvPr/>
        </p:nvSpPr>
        <p:spPr>
          <a:xfrm>
            <a:off x="2962800" y="2011680"/>
            <a:ext cx="2057040" cy="118440"/>
          </a:xfrm>
          <a:prstGeom prst="rect">
            <a:avLst/>
          </a:prstGeom>
          <a:solidFill>
            <a:srgbClr val="6AA6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3054240" y="233172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r>
              <a:rPr lang="en-US" sz="1500" b="1" u="none" strike="noStrike">
                <a:solidFill>
                  <a:srgbClr val="6AA66F"/>
                </a:solidFill>
                <a:effectLst/>
                <a:uFillTx/>
                <a:latin typeface="Aptos"/>
              </a:rPr>
              <a:t>В основном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6AA66F"/>
                </a:solidFill>
                <a:effectLst/>
                <a:uFillTx/>
                <a:latin typeface="Aptos"/>
              </a:rPr>
              <a:t>подтверждено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3"/>
          <p:cNvSpPr/>
          <p:nvPr/>
        </p:nvSpPr>
        <p:spPr>
          <a:xfrm>
            <a:off x="3054240" y="285300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mostly_confirmed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4"/>
          <p:cNvSpPr/>
          <p:nvPr/>
        </p:nvSpPr>
        <p:spPr>
          <a:xfrm>
            <a:off x="5266800" y="2011680"/>
            <a:ext cx="2057040" cy="1298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15"/>
          <p:cNvSpPr/>
          <p:nvPr/>
        </p:nvSpPr>
        <p:spPr>
          <a:xfrm>
            <a:off x="5266800" y="2011680"/>
            <a:ext cx="2057040" cy="118440"/>
          </a:xfrm>
          <a:prstGeom prst="rect">
            <a:avLst/>
          </a:prstGeom>
          <a:solidFill>
            <a:srgbClr val="D8A9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6"/>
          <p:cNvSpPr/>
          <p:nvPr/>
        </p:nvSpPr>
        <p:spPr>
          <a:xfrm>
            <a:off x="5358240" y="233172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r>
              <a:rPr lang="en-US" sz="1500" b="1" u="none" strike="noStrike">
                <a:solidFill>
                  <a:srgbClr val="D8A923"/>
                </a:solidFill>
                <a:effectLst/>
                <a:uFillTx/>
                <a:latin typeface="Aptos"/>
              </a:rPr>
              <a:t>Недостаточно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D8A923"/>
                </a:solidFill>
                <a:effectLst/>
                <a:uFillTx/>
                <a:latin typeface="Aptos"/>
              </a:rPr>
              <a:t>данных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7"/>
          <p:cNvSpPr/>
          <p:nvPr/>
        </p:nvSpPr>
        <p:spPr>
          <a:xfrm>
            <a:off x="5358240" y="285300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insufficient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8"/>
          <p:cNvSpPr/>
          <p:nvPr/>
        </p:nvSpPr>
        <p:spPr>
          <a:xfrm>
            <a:off x="7571160" y="2011680"/>
            <a:ext cx="2057040" cy="1298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19"/>
          <p:cNvSpPr/>
          <p:nvPr/>
        </p:nvSpPr>
        <p:spPr>
          <a:xfrm>
            <a:off x="7571160" y="2011680"/>
            <a:ext cx="2057040" cy="118440"/>
          </a:xfrm>
          <a:prstGeom prst="rect">
            <a:avLst/>
          </a:prstGeom>
          <a:solidFill>
            <a:srgbClr val="CA7E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20"/>
          <p:cNvSpPr/>
          <p:nvPr/>
        </p:nvSpPr>
        <p:spPr>
          <a:xfrm>
            <a:off x="7662600" y="233172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r>
              <a:rPr lang="en-US" sz="1500" b="1" u="none" strike="noStrike">
                <a:solidFill>
                  <a:srgbClr val="CA7E45"/>
                </a:solidFill>
                <a:effectLst/>
                <a:uFillTx/>
                <a:latin typeface="Aptos"/>
              </a:rPr>
              <a:t>В основном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A7E45"/>
                </a:solidFill>
                <a:effectLst/>
                <a:uFillTx/>
                <a:latin typeface="Aptos"/>
              </a:rPr>
              <a:t>опровергнуто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21"/>
          <p:cNvSpPr/>
          <p:nvPr/>
        </p:nvSpPr>
        <p:spPr>
          <a:xfrm>
            <a:off x="7662600" y="285300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mostly_refuted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22"/>
          <p:cNvSpPr/>
          <p:nvPr/>
        </p:nvSpPr>
        <p:spPr>
          <a:xfrm>
            <a:off x="9875520" y="2011680"/>
            <a:ext cx="2057040" cy="1298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23"/>
          <p:cNvSpPr/>
          <p:nvPr/>
        </p:nvSpPr>
        <p:spPr>
          <a:xfrm>
            <a:off x="9875520" y="2011680"/>
            <a:ext cx="2057040" cy="11844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24"/>
          <p:cNvSpPr/>
          <p:nvPr/>
        </p:nvSpPr>
        <p:spPr>
          <a:xfrm>
            <a:off x="9966960" y="233172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44141"/>
                </a:solidFill>
                <a:effectLst/>
                <a:uFillTx/>
                <a:latin typeface="Aptos"/>
              </a:rPr>
              <a:t>Опровергнуто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5"/>
          <p:cNvSpPr/>
          <p:nvPr/>
        </p:nvSpPr>
        <p:spPr>
          <a:xfrm>
            <a:off x="9966960" y="285300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refuted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26"/>
          <p:cNvSpPr/>
          <p:nvPr/>
        </p:nvSpPr>
        <p:spPr>
          <a:xfrm>
            <a:off x="749880" y="3886200"/>
            <a:ext cx="5074560" cy="1325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27"/>
          <p:cNvSpPr/>
          <p:nvPr/>
        </p:nvSpPr>
        <p:spPr>
          <a:xfrm>
            <a:off x="749880" y="3886200"/>
            <a:ext cx="68400" cy="1325520"/>
          </a:xfrm>
          <a:prstGeom prst="rect">
            <a:avLst/>
          </a:prstGeom>
          <a:solidFill>
            <a:srgbClr val="5942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8"/>
          <p:cNvSpPr/>
          <p:nvPr/>
        </p:nvSpPr>
        <p:spPr>
          <a:xfrm>
            <a:off x="951120" y="4050720"/>
            <a:ext cx="469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Что входит в итог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9"/>
          <p:cNvSpPr/>
          <p:nvPr/>
        </p:nvSpPr>
        <p:spPr>
          <a:xfrm>
            <a:off x="951120" y="4489560"/>
            <a:ext cx="4690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Объяснение, аргументы «за» и «против», источники, уверенность и предупреждения.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30"/>
          <p:cNvSpPr/>
          <p:nvPr/>
        </p:nvSpPr>
        <p:spPr>
          <a:xfrm>
            <a:off x="6172200" y="3886200"/>
            <a:ext cx="5074560" cy="1325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31"/>
          <p:cNvSpPr/>
          <p:nvPr/>
        </p:nvSpPr>
        <p:spPr>
          <a:xfrm>
            <a:off x="6172200" y="3886200"/>
            <a:ext cx="68400" cy="1325520"/>
          </a:xfrm>
          <a:prstGeom prst="rect">
            <a:avLst/>
          </a:prstGeom>
          <a:solidFill>
            <a:srgbClr val="D8A9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32"/>
          <p:cNvSpPr/>
          <p:nvPr/>
        </p:nvSpPr>
        <p:spPr>
          <a:xfrm>
            <a:off x="6373440" y="4050720"/>
            <a:ext cx="469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D8A923"/>
                </a:solidFill>
                <a:effectLst/>
                <a:uFillTx/>
                <a:latin typeface="Aptos"/>
              </a:rPr>
              <a:t>Важная логика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3"/>
          <p:cNvSpPr/>
          <p:nvPr/>
        </p:nvSpPr>
        <p:spPr>
          <a:xfrm>
            <a:off x="6373440" y="4489560"/>
            <a:ext cx="4690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Если утверждение непроверяемо или источники не подтверждены, система снижает категоричность.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/>
          <p:nvPr/>
        </p:nvSpPr>
        <p:spPr>
          <a:xfrm>
            <a:off x="658440" y="3474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ТЕХНИЧЕСКАЯ СХЕМА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65844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Архитектура демо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658440" y="1261800"/>
            <a:ext cx="685440" cy="500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1110996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06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658440" y="647388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VERY-DebAIte  •  MULTI-AGENT FACT-CHECKING SYSTEM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6"/>
          <p:cNvSpPr/>
          <p:nvPr/>
        </p:nvSpPr>
        <p:spPr>
          <a:xfrm>
            <a:off x="749880" y="2103120"/>
            <a:ext cx="2880000" cy="1416960"/>
          </a:xfrm>
          <a:prstGeom prst="roundRect">
            <a:avLst>
              <a:gd name="adj" fmla="val 12000"/>
            </a:avLst>
          </a:prstGeom>
          <a:solidFill>
            <a:srgbClr val="E9EE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914400" y="2286000"/>
            <a:ext cx="2550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Браузер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8"/>
          <p:cNvSpPr/>
          <p:nvPr/>
        </p:nvSpPr>
        <p:spPr>
          <a:xfrm>
            <a:off x="914400" y="2724840"/>
            <a:ext cx="25509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 anchorCtr="1">
            <a:spAutoFit/>
          </a:bodyPr>
          <a:p>
            <a:pPr algn="ctr"/>
            <a:r>
              <a:rPr lang="en-US" sz="13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Leptos CSR + WASM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Форма и карточки агентов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9"/>
          <p:cNvSpPr/>
          <p:nvPr/>
        </p:nvSpPr>
        <p:spPr>
          <a:xfrm>
            <a:off x="4617720" y="2103120"/>
            <a:ext cx="2880000" cy="1416960"/>
          </a:xfrm>
          <a:prstGeom prst="roundRect">
            <a:avLst>
              <a:gd name="adj" fmla="val 12000"/>
            </a:avLst>
          </a:prstGeom>
          <a:solidFill>
            <a:srgbClr val="EFEB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10"/>
          <p:cNvSpPr/>
          <p:nvPr/>
        </p:nvSpPr>
        <p:spPr>
          <a:xfrm>
            <a:off x="4782240" y="2286000"/>
            <a:ext cx="2550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Сервер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1"/>
          <p:cNvSpPr/>
          <p:nvPr/>
        </p:nvSpPr>
        <p:spPr>
          <a:xfrm>
            <a:off x="4782240" y="2724840"/>
            <a:ext cx="255096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 anchorCtr="1">
            <a:spAutoFit/>
          </a:bodyPr>
          <a:p>
            <a:pPr algn="ctr"/>
            <a:r>
              <a:rPr lang="en-US" sz="13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Axum + Tokio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Оркестрация, API, состояние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2"/>
          <p:cNvSpPr/>
          <p:nvPr/>
        </p:nvSpPr>
        <p:spPr>
          <a:xfrm>
            <a:off x="8485560" y="2103120"/>
            <a:ext cx="2880000" cy="1416960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3"/>
          <p:cNvSpPr/>
          <p:nvPr/>
        </p:nvSpPr>
        <p:spPr>
          <a:xfrm>
            <a:off x="8650080" y="2286000"/>
            <a:ext cx="2550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1A453"/>
                </a:solidFill>
                <a:effectLst/>
                <a:uFillTx/>
                <a:latin typeface="Aptos"/>
              </a:rPr>
              <a:t>LLM-провайдер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4"/>
          <p:cNvSpPr/>
          <p:nvPr/>
        </p:nvSpPr>
        <p:spPr>
          <a:xfrm>
            <a:off x="8650080" y="2724840"/>
            <a:ext cx="25509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 anchorCtr="1">
            <a:spAutoFit/>
          </a:bodyPr>
          <a:p>
            <a:pPr algn="ctr"/>
            <a:r>
              <a:rPr lang="en-US" sz="13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OpenAI-совместимый API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JSON Schema + SSE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2" name="Connector 15"/>
          <p:cNvCxnSpPr/>
          <p:nvPr/>
        </p:nvCxnSpPr>
        <p:spPr>
          <a:xfrm>
            <a:off x="3629880" y="2788920"/>
            <a:ext cx="988200" cy="360"/>
          </a:xfrm>
          <a:prstGeom prst="straightConnector1">
            <a:avLst/>
          </a:prstGeom>
          <a:ln>
            <a:solidFill>
              <a:srgbClr val="656C7C"/>
            </a:solidFill>
            <a:round/>
          </a:ln>
        </p:spPr>
      </p:cxnSp>
      <p:sp>
        <p:nvSpPr>
          <p:cNvPr id="193" name="TextBox 16"/>
          <p:cNvSpPr/>
          <p:nvPr/>
        </p:nvSpPr>
        <p:spPr>
          <a:xfrm>
            <a:off x="3611880" y="2395800"/>
            <a:ext cx="1023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HTTP + WS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Connector 17"/>
          <p:cNvCxnSpPr/>
          <p:nvPr/>
        </p:nvCxnSpPr>
        <p:spPr>
          <a:xfrm>
            <a:off x="7497720" y="2788920"/>
            <a:ext cx="988200" cy="360"/>
          </a:xfrm>
          <a:prstGeom prst="straightConnector1">
            <a:avLst/>
          </a:prstGeom>
          <a:ln>
            <a:solidFill>
              <a:srgbClr val="656C7C"/>
            </a:solidFill>
            <a:round/>
          </a:ln>
        </p:spPr>
      </p:cxnSp>
      <p:sp>
        <p:nvSpPr>
          <p:cNvPr id="195" name="TextBox 18"/>
          <p:cNvSpPr/>
          <p:nvPr/>
        </p:nvSpPr>
        <p:spPr>
          <a:xfrm>
            <a:off x="7479720" y="2395800"/>
            <a:ext cx="1023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LLM API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19"/>
          <p:cNvSpPr/>
          <p:nvPr/>
        </p:nvSpPr>
        <p:spPr>
          <a:xfrm>
            <a:off x="749880" y="4160520"/>
            <a:ext cx="10606680" cy="1023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20"/>
          <p:cNvSpPr/>
          <p:nvPr/>
        </p:nvSpPr>
        <p:spPr>
          <a:xfrm>
            <a:off x="987480" y="437076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POST /api/check  →  snapshot по WebSocket  →  agent_delta  →  verdict_ready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1"/>
          <p:cNvSpPr/>
          <p:nvPr/>
        </p:nvSpPr>
        <p:spPr>
          <a:xfrm>
            <a:off x="1005840" y="477324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Состояние хранится в памяти; демо запускается локально на 127.0.0.1:3000.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"/>
          <p:cNvSpPr/>
          <p:nvPr/>
        </p:nvSpPr>
        <p:spPr>
          <a:xfrm>
            <a:off x="658440" y="3474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ЧТО ВАЖНО ПОНИМАТЬ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65844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Границы MVP — часть честного результата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658440" y="1261800"/>
            <a:ext cx="685440" cy="500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4"/>
          <p:cNvSpPr/>
          <p:nvPr/>
        </p:nvSpPr>
        <p:spPr>
          <a:xfrm>
            <a:off x="1110996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07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5"/>
          <p:cNvSpPr/>
          <p:nvPr/>
        </p:nvSpPr>
        <p:spPr>
          <a:xfrm>
            <a:off x="658440" y="647388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VERY-DebAIte  •  MULTI-AGENT FACT-CHECKING SYSTEM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6"/>
          <p:cNvSpPr/>
          <p:nvPr/>
        </p:nvSpPr>
        <p:spPr>
          <a:xfrm>
            <a:off x="749880" y="1828800"/>
            <a:ext cx="5074560" cy="1371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7"/>
          <p:cNvSpPr/>
          <p:nvPr/>
        </p:nvSpPr>
        <p:spPr>
          <a:xfrm>
            <a:off x="749880" y="1828800"/>
            <a:ext cx="68400" cy="13712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8"/>
          <p:cNvSpPr/>
          <p:nvPr/>
        </p:nvSpPr>
        <p:spPr>
          <a:xfrm>
            <a:off x="951120" y="1993320"/>
            <a:ext cx="469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1A453"/>
                </a:solidFill>
                <a:effectLst/>
                <a:uFillTx/>
                <a:latin typeface="Aptos"/>
              </a:rPr>
              <a:t>Входит в v1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9"/>
          <p:cNvSpPr/>
          <p:nvPr/>
        </p:nvSpPr>
        <p:spPr>
          <a:xfrm>
            <a:off x="951120" y="2432160"/>
            <a:ext cx="4690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Три агента · параллельный анализ · стриминг · TXT и текстовый PDF · структурированный вердикт.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0"/>
          <p:cNvSpPr/>
          <p:nvPr/>
        </p:nvSpPr>
        <p:spPr>
          <a:xfrm>
            <a:off x="6172200" y="1828800"/>
            <a:ext cx="5074560" cy="1371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11"/>
          <p:cNvSpPr/>
          <p:nvPr/>
        </p:nvSpPr>
        <p:spPr>
          <a:xfrm>
            <a:off x="6172200" y="1828800"/>
            <a:ext cx="68400" cy="137124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2"/>
          <p:cNvSpPr/>
          <p:nvPr/>
        </p:nvSpPr>
        <p:spPr>
          <a:xfrm>
            <a:off x="6373440" y="1993320"/>
            <a:ext cx="469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B44141"/>
                </a:solidFill>
                <a:effectLst/>
                <a:uFillTx/>
                <a:latin typeface="Aptos"/>
              </a:rPr>
              <a:t>Не входит в v1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3"/>
          <p:cNvSpPr/>
          <p:nvPr/>
        </p:nvSpPr>
        <p:spPr>
          <a:xfrm>
            <a:off x="6373440" y="2432160"/>
            <a:ext cx="4690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Поиск в интернете · OCR изображений и сканов · история и БД · регистрация · публичный деплой.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14"/>
          <p:cNvSpPr/>
          <p:nvPr/>
        </p:nvSpPr>
        <p:spPr>
          <a:xfrm>
            <a:off x="749880" y="3703320"/>
            <a:ext cx="10496880" cy="1170000"/>
          </a:xfrm>
          <a:prstGeom prst="roundRect">
            <a:avLst>
              <a:gd name="adj" fmla="val 12000"/>
            </a:avLst>
          </a:prstGeom>
          <a:solidFill>
            <a:srgbClr val="FBF5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5"/>
          <p:cNvSpPr/>
          <p:nvPr/>
        </p:nvSpPr>
        <p:spPr>
          <a:xfrm>
            <a:off x="1005840" y="3931920"/>
            <a:ext cx="10012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Система явно сообщает: анализ основан на знаниях модели и загруженном материале. Это не независимая проверка фактов.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6"/>
          <p:cNvSpPr/>
          <p:nvPr/>
        </p:nvSpPr>
        <p:spPr>
          <a:xfrm>
            <a:off x="1005840" y="5257800"/>
            <a:ext cx="10012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Источники маркируются по уровню проверки; уверенность — оценка модели, а не вероятность истинности.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1"/>
          <p:cNvSpPr/>
          <p:nvPr/>
        </p:nvSpPr>
        <p:spPr>
          <a:xfrm>
            <a:off x="658440" y="3474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ИНЖЕНЕРНЫЕ РЕШЕНИЯ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65844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Надёжность и безопасность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3"/>
          <p:cNvSpPr/>
          <p:nvPr/>
        </p:nvSpPr>
        <p:spPr>
          <a:xfrm>
            <a:off x="658440" y="1261800"/>
            <a:ext cx="685440" cy="500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4"/>
          <p:cNvSpPr/>
          <p:nvPr/>
        </p:nvSpPr>
        <p:spPr>
          <a:xfrm>
            <a:off x="1110996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08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658440" y="647388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VERY-DebAIte  •  MULTI-AGENT FACT-CHECKING SYSTEM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6"/>
          <p:cNvSpPr/>
          <p:nvPr/>
        </p:nvSpPr>
        <p:spPr>
          <a:xfrm>
            <a:off x="749880" y="1828800"/>
            <a:ext cx="5028840" cy="1261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7"/>
          <p:cNvSpPr/>
          <p:nvPr/>
        </p:nvSpPr>
        <p:spPr>
          <a:xfrm>
            <a:off x="749880" y="1828800"/>
            <a:ext cx="68400" cy="1261440"/>
          </a:xfrm>
          <a:prstGeom prst="rect">
            <a:avLst/>
          </a:prstGeom>
          <a:solidFill>
            <a:srgbClr val="5942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8"/>
          <p:cNvSpPr/>
          <p:nvPr/>
        </p:nvSpPr>
        <p:spPr>
          <a:xfrm>
            <a:off x="951120" y="1993320"/>
            <a:ext cx="4644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Параллельность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9"/>
          <p:cNvSpPr/>
          <p:nvPr/>
        </p:nvSpPr>
        <p:spPr>
          <a:xfrm>
            <a:off x="951120" y="2432160"/>
            <a:ext cx="4644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Дебатеры запускаются независимо; ошибка одного не должна обрушить весь анализ.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10"/>
          <p:cNvSpPr/>
          <p:nvPr/>
        </p:nvSpPr>
        <p:spPr>
          <a:xfrm>
            <a:off x="6144840" y="1828800"/>
            <a:ext cx="5028840" cy="1261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11"/>
          <p:cNvSpPr/>
          <p:nvPr/>
        </p:nvSpPr>
        <p:spPr>
          <a:xfrm>
            <a:off x="6144840" y="1828800"/>
            <a:ext cx="68400" cy="12614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12"/>
          <p:cNvSpPr/>
          <p:nvPr/>
        </p:nvSpPr>
        <p:spPr>
          <a:xfrm>
            <a:off x="6346080" y="1993320"/>
            <a:ext cx="4644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1A453"/>
                </a:solidFill>
                <a:effectLst/>
                <a:uFillTx/>
                <a:latin typeface="Aptos"/>
              </a:rPr>
              <a:t>Восстановление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3"/>
          <p:cNvSpPr/>
          <p:nvPr/>
        </p:nvSpPr>
        <p:spPr>
          <a:xfrm>
            <a:off x="6346080" y="2432160"/>
            <a:ext cx="4644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При переподключении WebSocket клиент получает snapshot текущего состояния.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14"/>
          <p:cNvSpPr/>
          <p:nvPr/>
        </p:nvSpPr>
        <p:spPr>
          <a:xfrm>
            <a:off x="749880" y="3429000"/>
            <a:ext cx="5028840" cy="1261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ectangle 15"/>
          <p:cNvSpPr/>
          <p:nvPr/>
        </p:nvSpPr>
        <p:spPr>
          <a:xfrm>
            <a:off x="749880" y="3429000"/>
            <a:ext cx="68400" cy="1261440"/>
          </a:xfrm>
          <a:prstGeom prst="rect">
            <a:avLst/>
          </a:prstGeom>
          <a:solidFill>
            <a:srgbClr val="D8A9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16"/>
          <p:cNvSpPr/>
          <p:nvPr/>
        </p:nvSpPr>
        <p:spPr>
          <a:xfrm>
            <a:off x="951120" y="3593520"/>
            <a:ext cx="4644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D8A923"/>
                </a:solidFill>
                <a:effectLst/>
                <a:uFillTx/>
                <a:latin typeface="Aptos"/>
              </a:rPr>
              <a:t>Ограничения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7"/>
          <p:cNvSpPr/>
          <p:nvPr/>
        </p:nvSpPr>
        <p:spPr>
          <a:xfrm>
            <a:off x="951120" y="4032360"/>
            <a:ext cx="4644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Дедлайн проверки — 120 секунд; rate limit и лимиты размера защищают демо.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18"/>
          <p:cNvSpPr/>
          <p:nvPr/>
        </p:nvSpPr>
        <p:spPr>
          <a:xfrm>
            <a:off x="6144840" y="3429000"/>
            <a:ext cx="5028840" cy="1261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19"/>
          <p:cNvSpPr/>
          <p:nvPr/>
        </p:nvSpPr>
        <p:spPr>
          <a:xfrm>
            <a:off x="6144840" y="3429000"/>
            <a:ext cx="68400" cy="1261440"/>
          </a:xfrm>
          <a:prstGeom prst="rect">
            <a:avLst/>
          </a:prstGeom>
          <a:solidFill>
            <a:srgbClr val="233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20"/>
          <p:cNvSpPr/>
          <p:nvPr/>
        </p:nvSpPr>
        <p:spPr>
          <a:xfrm>
            <a:off x="6346080" y="3593520"/>
            <a:ext cx="4644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Защита данных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1"/>
          <p:cNvSpPr/>
          <p:nvPr/>
        </p:nvSpPr>
        <p:spPr>
          <a:xfrm>
            <a:off x="6346080" y="4032360"/>
            <a:ext cx="4644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62B3B"/>
                </a:solidFill>
                <a:effectLst/>
                <a:uFillTx/>
                <a:latin typeface="Aptos"/>
              </a:rPr>
              <a:t>Без БД и истории; файлы не сохраняются на диск, секреты — только в окружении.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le 22"/>
          <p:cNvSpPr/>
          <p:nvPr/>
        </p:nvSpPr>
        <p:spPr>
          <a:xfrm>
            <a:off x="749880" y="5285160"/>
            <a:ext cx="10423800" cy="502560"/>
          </a:xfrm>
          <a:prstGeom prst="roundRect">
            <a:avLst>
              <a:gd name="adj" fmla="val 12000"/>
            </a:avLst>
          </a:prstGeom>
          <a:solidFill>
            <a:srgbClr val="FAEB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23"/>
          <p:cNvSpPr/>
          <p:nvPr/>
        </p:nvSpPr>
        <p:spPr>
          <a:xfrm>
            <a:off x="932760" y="5403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B44141"/>
                </a:solidFill>
                <a:effectLst/>
                <a:uFillTx/>
                <a:latin typeface="Aptos"/>
              </a:rPr>
              <a:t>Без авторизации публичный деплой запрещён: MVP рассчитан на localhost или закрытую сеть.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1"/>
          <p:cNvSpPr/>
          <p:nvPr/>
        </p:nvSpPr>
        <p:spPr>
          <a:xfrm>
            <a:off x="658440" y="3474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СЦЕНАРИЙ ПОКАЗА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65844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Демо за 4 минуты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3"/>
          <p:cNvSpPr/>
          <p:nvPr/>
        </p:nvSpPr>
        <p:spPr>
          <a:xfrm>
            <a:off x="658440" y="1261800"/>
            <a:ext cx="685440" cy="5004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4"/>
          <p:cNvSpPr/>
          <p:nvPr/>
        </p:nvSpPr>
        <p:spPr>
          <a:xfrm>
            <a:off x="1110996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09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5"/>
          <p:cNvSpPr/>
          <p:nvPr/>
        </p:nvSpPr>
        <p:spPr>
          <a:xfrm>
            <a:off x="658440" y="647388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VERY-DebAIte  •  MULTI-AGENT FACT-CHECKING SYSTEM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6"/>
          <p:cNvSpPr/>
          <p:nvPr/>
        </p:nvSpPr>
        <p:spPr>
          <a:xfrm>
            <a:off x="749880" y="1691640"/>
            <a:ext cx="1828440" cy="529920"/>
          </a:xfrm>
          <a:prstGeom prst="roundRect">
            <a:avLst>
              <a:gd name="adj" fmla="val 12000"/>
            </a:avLst>
          </a:prstGeom>
          <a:solidFill>
            <a:srgbClr val="EFEB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7"/>
          <p:cNvSpPr/>
          <p:nvPr/>
        </p:nvSpPr>
        <p:spPr>
          <a:xfrm>
            <a:off x="822960" y="183780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00:00–00:30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8"/>
          <p:cNvSpPr/>
          <p:nvPr/>
        </p:nvSpPr>
        <p:spPr>
          <a:xfrm>
            <a:off x="2788920" y="17100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Ввести проверяемое утверждение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9"/>
          <p:cNvSpPr/>
          <p:nvPr/>
        </p:nvSpPr>
        <p:spPr>
          <a:xfrm>
            <a:off x="5760720" y="1710000"/>
            <a:ext cx="5303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Например: «Вода кипит при 100 °C на уровне моря».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10"/>
          <p:cNvSpPr/>
          <p:nvPr/>
        </p:nvSpPr>
        <p:spPr>
          <a:xfrm>
            <a:off x="749880" y="2496240"/>
            <a:ext cx="1828440" cy="529920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11"/>
          <p:cNvSpPr/>
          <p:nvPr/>
        </p:nvSpPr>
        <p:spPr>
          <a:xfrm>
            <a:off x="822960" y="264276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1A453"/>
                </a:solidFill>
                <a:effectLst/>
                <a:uFillTx/>
                <a:latin typeface="Aptos"/>
              </a:rPr>
              <a:t>00:30–01:30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2"/>
          <p:cNvSpPr/>
          <p:nvPr/>
        </p:nvSpPr>
        <p:spPr>
          <a:xfrm>
            <a:off x="2788920" y="2514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Показать дебаты в реальном времени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3"/>
          <p:cNvSpPr/>
          <p:nvPr/>
        </p:nvSpPr>
        <p:spPr>
          <a:xfrm>
            <a:off x="5760720" y="2514600"/>
            <a:ext cx="5303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Оптимист и Скептик параллельно формируют аргументы.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14"/>
          <p:cNvSpPr/>
          <p:nvPr/>
        </p:nvSpPr>
        <p:spPr>
          <a:xfrm>
            <a:off x="749880" y="3300840"/>
            <a:ext cx="1828440" cy="529920"/>
          </a:xfrm>
          <a:prstGeom prst="roundRect">
            <a:avLst>
              <a:gd name="adj" fmla="val 12000"/>
            </a:avLst>
          </a:prstGeom>
          <a:solidFill>
            <a:srgbClr val="FBF5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15"/>
          <p:cNvSpPr/>
          <p:nvPr/>
        </p:nvSpPr>
        <p:spPr>
          <a:xfrm>
            <a:off x="822960" y="344736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D8A923"/>
                </a:solidFill>
                <a:effectLst/>
                <a:uFillTx/>
                <a:latin typeface="Aptos"/>
              </a:rPr>
              <a:t>01:30–02:30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6"/>
          <p:cNvSpPr/>
          <p:nvPr/>
        </p:nvSpPr>
        <p:spPr>
          <a:xfrm>
            <a:off x="2788920" y="33192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Открыть итог Судьи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7"/>
          <p:cNvSpPr/>
          <p:nvPr/>
        </p:nvSpPr>
        <p:spPr>
          <a:xfrm>
            <a:off x="5760720" y="3319200"/>
            <a:ext cx="5303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Вердикт, объяснение, доводы, источники и предупреждения.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18"/>
          <p:cNvSpPr/>
          <p:nvPr/>
        </p:nvSpPr>
        <p:spPr>
          <a:xfrm>
            <a:off x="749880" y="4105800"/>
            <a:ext cx="1828440" cy="529920"/>
          </a:xfrm>
          <a:prstGeom prst="roundRect">
            <a:avLst>
              <a:gd name="adj" fmla="val 12000"/>
            </a:avLst>
          </a:prstGeom>
          <a:solidFill>
            <a:srgbClr val="E9EE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19"/>
          <p:cNvSpPr/>
          <p:nvPr/>
        </p:nvSpPr>
        <p:spPr>
          <a:xfrm>
            <a:off x="822960" y="425196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02:30–03:30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0"/>
          <p:cNvSpPr/>
          <p:nvPr/>
        </p:nvSpPr>
        <p:spPr>
          <a:xfrm>
            <a:off x="2788920" y="41238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Повторить с TXT-инъекцией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21"/>
          <p:cNvSpPr/>
          <p:nvPr/>
        </p:nvSpPr>
        <p:spPr>
          <a:xfrm>
            <a:off x="5760720" y="4123800"/>
            <a:ext cx="53031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Показать, что содержимое файла — материал, а не инструкция.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22"/>
          <p:cNvSpPr/>
          <p:nvPr/>
        </p:nvSpPr>
        <p:spPr>
          <a:xfrm>
            <a:off x="749880" y="4910400"/>
            <a:ext cx="1828440" cy="529920"/>
          </a:xfrm>
          <a:prstGeom prst="roundRect">
            <a:avLst>
              <a:gd name="adj" fmla="val 12000"/>
            </a:avLst>
          </a:prstGeom>
          <a:solidFill>
            <a:srgbClr val="EFEB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23"/>
          <p:cNvSpPr/>
          <p:nvPr/>
        </p:nvSpPr>
        <p:spPr>
          <a:xfrm>
            <a:off x="822960" y="505656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94297"/>
                </a:solidFill>
                <a:effectLst/>
                <a:uFillTx/>
                <a:latin typeface="Aptos"/>
              </a:rPr>
              <a:t>03:30–04:00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4"/>
          <p:cNvSpPr/>
          <p:nvPr/>
        </p:nvSpPr>
        <p:spPr>
          <a:xfrm>
            <a:off x="2788920" y="49287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3669"/>
                </a:solidFill>
                <a:effectLst/>
                <a:uFillTx/>
                <a:latin typeface="Aptos"/>
              </a:rPr>
              <a:t>Обозначить границы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25"/>
          <p:cNvSpPr/>
          <p:nvPr/>
        </p:nvSpPr>
        <p:spPr>
          <a:xfrm>
            <a:off x="5760720" y="4928760"/>
            <a:ext cx="5303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56C7C"/>
                </a:solidFill>
                <a:effectLst/>
                <a:uFillTx/>
                <a:latin typeface="Aptos"/>
              </a:rPr>
              <a:t>Без веб-поиска это не независимый фактчекинг.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26"/>
          <p:cNvSpPr/>
          <p:nvPr/>
        </p:nvSpPr>
        <p:spPr>
          <a:xfrm>
            <a:off x="749880" y="5897880"/>
            <a:ext cx="10423800" cy="319680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27"/>
          <p:cNvSpPr/>
          <p:nvPr/>
        </p:nvSpPr>
        <p:spPr>
          <a:xfrm>
            <a:off x="914400" y="5952600"/>
            <a:ext cx="10058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1A453"/>
                </a:solidFill>
                <a:effectLst/>
                <a:uFillTx/>
                <a:latin typeface="Aptos"/>
              </a:rPr>
              <a:t>План B: DEMO_MODE=replay с записанным ответом и явным баннером.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3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Oval 1"/>
          <p:cNvSpPr/>
          <p:nvPr/>
        </p:nvSpPr>
        <p:spPr>
          <a:xfrm>
            <a:off x="9601200" y="-457200"/>
            <a:ext cx="3017160" cy="3017160"/>
          </a:xfrm>
          <a:prstGeom prst="ellipse">
            <a:avLst/>
          </a:prstGeom>
          <a:solidFill>
            <a:srgbClr val="5942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Oval 2"/>
          <p:cNvSpPr/>
          <p:nvPr/>
        </p:nvSpPr>
        <p:spPr>
          <a:xfrm>
            <a:off x="-640080" y="5120640"/>
            <a:ext cx="2194200" cy="2194200"/>
          </a:xfrm>
          <a:prstGeom prst="ellipse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4"/>
          <p:cNvSpPr/>
          <p:nvPr/>
        </p:nvSpPr>
        <p:spPr>
          <a:xfrm>
            <a:off x="5220000" y="1234440"/>
            <a:ext cx="6400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D8A923"/>
                </a:solidFill>
                <a:effectLst/>
                <a:uFillTx/>
                <a:latin typeface="Aptos"/>
              </a:rPr>
              <a:t>Заключение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5"/>
          <p:cNvSpPr/>
          <p:nvPr/>
        </p:nvSpPr>
        <p:spPr>
          <a:xfrm>
            <a:off x="4754880" y="1828800"/>
            <a:ext cx="6400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Не просто ответ.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Аргументы с обеих сторон.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6"/>
          <p:cNvSpPr/>
          <p:nvPr/>
        </p:nvSpPr>
        <p:spPr>
          <a:xfrm>
            <a:off x="4754880" y="3657600"/>
            <a:ext cx="6034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0E4F0"/>
                </a:solidFill>
                <a:effectLst/>
                <a:uFillTx/>
                <a:latin typeface="Aptos"/>
              </a:rPr>
              <a:t>Прозрачный процесс, осторожный вердикт и понятные ограничения.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7"/>
          <p:cNvSpPr/>
          <p:nvPr/>
        </p:nvSpPr>
        <p:spPr>
          <a:xfrm>
            <a:off x="4754880" y="4937760"/>
            <a:ext cx="1096920" cy="72720"/>
          </a:xfrm>
          <a:prstGeom prst="rect">
            <a:avLst/>
          </a:prstGeom>
          <a:solidFill>
            <a:srgbClr val="31A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ectangle 8"/>
          <p:cNvSpPr/>
          <p:nvPr/>
        </p:nvSpPr>
        <p:spPr>
          <a:xfrm>
            <a:off x="5961960" y="4937760"/>
            <a:ext cx="1096920" cy="72720"/>
          </a:xfrm>
          <a:prstGeom prst="rect">
            <a:avLst/>
          </a:prstGeom>
          <a:solidFill>
            <a:srgbClr val="D8A9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ectangle 9"/>
          <p:cNvSpPr/>
          <p:nvPr/>
        </p:nvSpPr>
        <p:spPr>
          <a:xfrm>
            <a:off x="7169040" y="4937760"/>
            <a:ext cx="1096920" cy="72720"/>
          </a:xfrm>
          <a:prstGeom prst="rect">
            <a:avLst/>
          </a:prstGeom>
          <a:solidFill>
            <a:srgbClr val="5942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11"/>
          <p:cNvSpPr/>
          <p:nvPr/>
        </p:nvSpPr>
        <p:spPr>
          <a:xfrm>
            <a:off x="658440" y="647388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D2D7E6"/>
                </a:solidFill>
                <a:effectLst/>
                <a:uFillTx/>
                <a:latin typeface="Aptos"/>
              </a:rPr>
              <a:t>VERY-DebAIte  •  MVP v2</a:t>
            </a:r>
            <a:endParaRPr lang="ru-RU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4" name="Picture 12" descr="Very-DebAIte_logo_circular.png"/>
          <p:cNvPicPr/>
          <p:nvPr/>
        </p:nvPicPr>
        <p:blipFill>
          <a:blip r:embed="rId1"/>
          <a:stretch/>
        </p:blipFill>
        <p:spPr>
          <a:xfrm>
            <a:off x="720000" y="771480"/>
            <a:ext cx="3548520" cy="354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2026-10-25T16:09:42Z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